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C654-B2E9-8A39-302B-54D8762E1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FE678-C3FC-082F-FC84-305BD3D84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125C-DDB7-23A5-930B-CF886942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3AC54-29DA-BB44-EFB4-F12F0423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620CD-3CB3-CF46-0ED7-14064994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6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FC49-B009-AF35-B382-7B862E8D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B1AE9-B03D-15A0-8A9B-7E2E2CE28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A15F-42C3-5354-B718-2036E25A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AE19-1D1F-CA53-75C1-D4B90D26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14426-0985-9C93-1CFA-68F18162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6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3E39-156D-A7DF-1715-5C38DEA9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84E97-71AE-A682-A63F-794F8E015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2041-BB74-3726-B58A-693870DE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1769C-10DB-84B5-A874-9E3B0E48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69FC7-E9A2-C330-9479-697F2293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4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4945-798E-A1D2-858C-EFA3DF01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B14A6-EA5F-A132-44A8-88994903E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0B9B9-5DB8-FD5E-1B9F-5539A8E73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C2744-CF82-BD9C-A821-82C085E3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D67C-5F6F-8E76-F489-9000CF3E1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8FC56-C668-E7F3-6F28-CA732584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39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5E43-323E-D230-ADC0-2E10F405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70F59-8E73-1D47-4461-3EB53686E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58600-CF64-2B1E-6BFF-88BC13112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621A9-87FD-F839-D1C7-E866C7F6C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174E5-B2FB-F5D0-E646-E5CB0D39B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DE9FF-CF6F-53D6-92E8-54D9FF5AD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E202D3-1B53-7783-BFB1-EC946647A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58AB2-E0A8-2FA2-855C-1431799D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8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00BA-3411-7301-209C-7D78E6F4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C4642-2F2B-8E46-1BC5-EF70A2B0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18DE6-AAB4-B28E-D12E-0EA55009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5EFF9-65B3-FA84-6043-514A37AF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7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F1EDE-E87C-5E8E-7445-6A4EFF26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81D17-92DF-19D0-BA01-3AE129BF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4E9FA-3F16-A696-1168-1C0F76AF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9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51BA-2D33-2076-65AE-9A06446C3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CF6BD-A06A-5919-32A9-79C900DA1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18272-FFB4-573A-7F82-514FC69E2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7BF17-FECC-0344-E0C8-209648D5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6B1E0-13B5-64F3-3994-EB9ACA7E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0864A-327E-D0DA-7C3E-68B23527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4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0EBC-4259-D491-265E-32716122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59B56-7C5A-10B7-F0CC-054D80149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FD28C-A181-333E-29BF-E0D58D3FE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66B50-A003-D00C-C26C-1186EF4B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CF033-971D-5B6C-5F06-084BF5B0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32C4-C719-886D-D4AC-A07C295F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8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36629-A653-AAF6-A12B-16E2725A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41704-9B83-F0AC-8911-10357EF2D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97F-123E-5AAB-128C-18E0BE20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2E331-B6E5-2F8E-F6B7-3F5CB504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4A8BA-185A-42FC-1017-F138709C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6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482AF-364F-D83E-3A8F-24C3A96FD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ED8F6-F473-D826-0190-928D65B31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23563-FEAF-772A-6460-D17CA83D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9D8C-5F30-1570-31FF-4CBE424E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67514-76DF-E4C0-53FA-168A9466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6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7618E3-02CD-CBB3-A5C3-4492784E1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A85D1-15B9-1E40-0A34-5752D6C9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5D1E-0470-45FC-CAA0-9374FE4BD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9F60A-6D89-7642-BE5F-89C8F06BADB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4F2E9-8D2D-CE05-D100-FBB8D2A9F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A9896-C75A-2174-1FFE-E88A504A1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897AB-8CEE-4548-B1FF-889BA3A9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8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C7B9-DBBA-1313-3B30-D535D2C5E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b="1" dirty="0"/>
              <a:t>Phishing Awareness Training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9B13D-5C96-F753-E87F-7CD853897C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Cybersecurity Internship – </a:t>
            </a:r>
            <a:r>
              <a:rPr lang="en-US" dirty="0" err="1"/>
              <a:t>CodeAlpha</a:t>
            </a:r>
            <a:r>
              <a:rPr lang="en-US" dirty="0"/>
              <a:t>
Sunday John </a:t>
            </a:r>
            <a:r>
              <a:rPr lang="en-US" dirty="0" err="1"/>
              <a:t>Onyebuchi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42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A71B-559C-E7F3-2516-98246125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C0B6-C2CC-C9B4-6325-E071B21B2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 fontAlgn="auto">
              <a:buNone/>
            </a:pPr>
            <a:r>
              <a:rPr lang="en-US" b="1" dirty="0">
                <a:solidFill>
                  <a:srgbClr val="000000"/>
                </a:solidFill>
                <a:latin typeface="TWKEverett"/>
              </a:rPr>
              <a:t>•</a:t>
            </a:r>
            <a:r>
              <a:rPr lang="en-US" b="0" i="0" dirty="0">
                <a:solidFill>
                  <a:srgbClr val="000000"/>
                </a:solidFill>
                <a:effectLst/>
                <a:latin typeface="TWKEverett"/>
              </a:rPr>
              <a:t>Phishing is a fraud technique where a malicious actor sends messages impersonating a legitimate individual or organization, usually via email or other messaging system to </a:t>
            </a:r>
            <a:r>
              <a:rPr lang="en-US" b="0" i="0" u="sng" dirty="0">
                <a:solidFill>
                  <a:srgbClr val="000000"/>
                </a:solidFill>
                <a:effectLst/>
                <a:latin typeface="TWKEverett"/>
              </a:rPr>
              <a:t>trick</a:t>
            </a:r>
            <a:r>
              <a:rPr lang="en-US" b="0" i="0" dirty="0">
                <a:solidFill>
                  <a:srgbClr val="000000"/>
                </a:solidFill>
                <a:effectLst/>
                <a:latin typeface="TWKEverett"/>
              </a:rPr>
              <a:t> users into revealing sensitive information such as passwords or financial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80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0679F-9535-0947-3C1D-8B908FD1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1E5EC-94E9-3465-B245-093D028C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📧 Email Phishing
📱 </a:t>
            </a:r>
            <a:r>
              <a:rPr lang="en-US" dirty="0" err="1"/>
              <a:t>Smishing</a:t>
            </a:r>
            <a:r>
              <a:rPr lang="en-US" dirty="0"/>
              <a:t>/</a:t>
            </a:r>
            <a:r>
              <a:rPr lang="en-US" dirty="0" err="1"/>
              <a:t>Vishing</a:t>
            </a:r>
            <a:r>
              <a:rPr lang="en-US" dirty="0"/>
              <a:t>
🎯 Spear Phishing</a:t>
            </a:r>
          </a:p>
          <a:p>
            <a:r>
              <a:rPr lang="en-US" dirty="0"/>
              <a:t>⚠️ Pop-Up Phishing </a:t>
            </a:r>
          </a:p>
          <a:p>
            <a:r>
              <a:rPr lang="en-US" dirty="0"/>
              <a:t>🛜 Pharming</a:t>
            </a:r>
          </a:p>
        </p:txBody>
      </p:sp>
    </p:spTree>
    <p:extLst>
      <p:ext uri="{BB962C8B-B14F-4D97-AF65-F5344CB8AC3E}">
        <p14:creationId xmlns:p14="http://schemas.microsoft.com/office/powerpoint/2010/main" val="56505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9576-5C34-8FB8-1EA0-374EA6F6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Identifying Phishing Emails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1BE9-8067-F55E-59B0-D6BB8037A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39" y="1690688"/>
            <a:ext cx="13370951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Examine the Sender’s Email Address;</a:t>
            </a:r>
          </a:p>
          <a:p>
            <a:pPr marL="0" indent="0">
              <a:buNone/>
            </a:pPr>
            <a:r>
              <a:rPr lang="en-US" dirty="0"/>
              <a:t>Attackers often spoof or imitate legitimate addresses</a:t>
            </a:r>
          </a:p>
          <a:p>
            <a:pPr marL="0" indent="0">
              <a:buNone/>
            </a:pPr>
            <a:r>
              <a:rPr lang="en-US" dirty="0"/>
              <a:t>2. Watch for Urgent or Threatening Language;
Phishing emails try to pressure you into acting quickly.</a:t>
            </a:r>
          </a:p>
          <a:p>
            <a:pPr marL="0" indent="0">
              <a:buNone/>
            </a:pPr>
            <a:r>
              <a:rPr lang="en-US" dirty="0"/>
              <a:t>(Urgency is used to bypass critical thinking)</a:t>
            </a:r>
          </a:p>
          <a:p>
            <a:pPr marL="0" indent="0">
              <a:buNone/>
            </a:pPr>
            <a:r>
              <a:rPr lang="en-US" dirty="0"/>
              <a:t>3. Inspect Links Before Clicking;</a:t>
            </a:r>
          </a:p>
          <a:p>
            <a:pPr marL="0" indent="0">
              <a:buNone/>
            </a:pPr>
            <a:r>
              <a:rPr lang="en-US" dirty="0"/>
              <a:t>Links are one of the main attack vectors.
•Look for Misspellings, extra characters, and unusual domains.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98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19A18C-2421-3822-D0D4-AE0F9F45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Identifying Phishing Emails 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B2A7A8-E795-FF53-4B15-E02FEA32A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4. Be Caution with Attachments;</a:t>
            </a:r>
          </a:p>
          <a:p>
            <a:pPr marL="0" indent="0">
              <a:buNone/>
            </a:pPr>
            <a:r>
              <a:rPr lang="en-US" dirty="0"/>
              <a:t>Attachments may contain:
Malware
Spyware
Ransomware</a:t>
            </a:r>
          </a:p>
          <a:p>
            <a:pPr marL="0" indent="0">
              <a:buNone/>
            </a:pPr>
            <a:r>
              <a:rPr lang="en-US" dirty="0"/>
              <a:t>5. Check for Poor Grammar and Formatting;</a:t>
            </a:r>
          </a:p>
          <a:p>
            <a:pPr marL="0" indent="0">
              <a:buNone/>
            </a:pPr>
            <a:r>
              <a:rPr lang="en-US" dirty="0"/>
              <a:t>Legitimate companies maintain professional communication standards. Many phishing emails contains spelling errors and have inconsistent formatting.</a:t>
            </a:r>
          </a:p>
        </p:txBody>
      </p:sp>
    </p:spTree>
    <p:extLst>
      <p:ext uri="{BB962C8B-B14F-4D97-AF65-F5344CB8AC3E}">
        <p14:creationId xmlns:p14="http://schemas.microsoft.com/office/powerpoint/2010/main" val="2563803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88B5-553A-E99C-13A9-F8F0DA4A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Identify Fake websites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4609-DCCB-6C46-719D-1518D6411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Carefully Check the URL (Most Important);</a:t>
            </a:r>
          </a:p>
          <a:p>
            <a:pPr marL="0" indent="0">
              <a:buNone/>
            </a:pPr>
            <a:r>
              <a:rPr lang="en-US" dirty="0"/>
              <a:t>-Fake websites often look real but have small differences in the web address.</a:t>
            </a:r>
          </a:p>
          <a:p>
            <a:pPr marL="0" indent="0">
              <a:buNone/>
            </a:pPr>
            <a:r>
              <a:rPr lang="en-US" dirty="0"/>
              <a:t>What to look for:
Misspellings:
amaz0n.com instead of </a:t>
            </a:r>
            <a:r>
              <a:rPr lang="en-US" dirty="0" err="1"/>
              <a:t>amazon.com</a:t>
            </a:r>
            <a:r>
              <a:rPr lang="en-US" dirty="0"/>
              <a:t>
Extra words or subdomains:
</a:t>
            </a:r>
            <a:r>
              <a:rPr lang="en-US" dirty="0" err="1"/>
              <a:t>amazon.login-secure.net</a:t>
            </a:r>
            <a:r>
              <a:rPr lang="en-US" dirty="0"/>
              <a:t>
Strange extensions:
.xyz, .</a:t>
            </a:r>
            <a:r>
              <a:rPr lang="en-US" dirty="0" err="1"/>
              <a:t>tk</a:t>
            </a:r>
            <a:r>
              <a:rPr lang="en-US" dirty="0"/>
              <a:t>, .</a:t>
            </a:r>
            <a:r>
              <a:rPr lang="en-US" dirty="0" err="1"/>
              <a:t>ru</a:t>
            </a:r>
            <a:r>
              <a:rPr lang="en-US" dirty="0"/>
              <a:t> (not always bad, but often suspicious)</a:t>
            </a:r>
          </a:p>
        </p:txBody>
      </p:sp>
    </p:spTree>
    <p:extLst>
      <p:ext uri="{BB962C8B-B14F-4D97-AF65-F5344CB8AC3E}">
        <p14:creationId xmlns:p14="http://schemas.microsoft.com/office/powerpoint/2010/main" val="1827539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37C3-C286-E16B-C547-E9C9BD554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Identify Fake websites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08D22-0F1F-5DBA-50B9-F68D79406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2. Look for HTTPS — But Don’t Fully Trust It;</a:t>
            </a:r>
          </a:p>
          <a:p>
            <a:pPr marL="0" indent="0">
              <a:buNone/>
            </a:pPr>
            <a:r>
              <a:rPr lang="en-US" dirty="0"/>
              <a:t>HTTPS means the connection is encrypted
You’ll see a 🔒 padlock icon in the browser</a:t>
            </a:r>
          </a:p>
          <a:p>
            <a:pPr marL="0" indent="0">
              <a:buNone/>
            </a:pPr>
            <a:r>
              <a:rPr lang="en-US" dirty="0"/>
              <a:t>-Fake websites can also use HTTPS.
👉 So HTTPS = necessary, but not proof of legitimacy</a:t>
            </a:r>
          </a:p>
          <a:p>
            <a:pPr marL="0" indent="0">
              <a:buNone/>
            </a:pPr>
            <a:r>
              <a:rPr lang="en-US" dirty="0"/>
              <a:t>3. Examine Website Design and Quality;</a:t>
            </a:r>
          </a:p>
          <a:p>
            <a:pPr marL="0" indent="0">
              <a:buNone/>
            </a:pPr>
            <a:r>
              <a:rPr lang="en-US" dirty="0"/>
              <a:t>Fake websites often have poor layout or spacing,</a:t>
            </a:r>
          </a:p>
          <a:p>
            <a:pPr marL="0" indent="0">
              <a:buNone/>
            </a:pPr>
            <a:r>
              <a:rPr lang="en-US" dirty="0"/>
              <a:t>Uses low-quality images, and they often have broken buttons and links.</a:t>
            </a:r>
          </a:p>
        </p:txBody>
      </p:sp>
    </p:spTree>
    <p:extLst>
      <p:ext uri="{BB962C8B-B14F-4D97-AF65-F5344CB8AC3E}">
        <p14:creationId xmlns:p14="http://schemas.microsoft.com/office/powerpoint/2010/main" val="387243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7947-4B4D-2202-3BCE-F4235F73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How To Identify Fake websites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94FCA-9F05-3DC2-8815-9B22AD3DE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4. Verify the Website Identity:
Check if the site provides;
-Contact information
-About page
-Official branding</a:t>
            </a:r>
          </a:p>
          <a:p>
            <a:pPr marL="0" indent="0">
              <a:buNone/>
            </a:pPr>
            <a:r>
              <a:rPr lang="en-US" dirty="0"/>
              <a:t>5. Check Reviews or Online Presence
Before trusting a website:
Search: “Is [website name] legit?”
Look for reviews or warnings
👉 New or fake sites often have little or no online presence</a:t>
            </a:r>
          </a:p>
        </p:txBody>
      </p:sp>
    </p:spTree>
    <p:extLst>
      <p:ext uri="{BB962C8B-B14F-4D97-AF65-F5344CB8AC3E}">
        <p14:creationId xmlns:p14="http://schemas.microsoft.com/office/powerpoint/2010/main" val="92406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3EAD-D277-6018-FACE-98115EE04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31" y="821531"/>
            <a:ext cx="9960769" cy="869157"/>
          </a:xfrm>
        </p:spPr>
        <p:txBody>
          <a:bodyPr/>
          <a:lstStyle/>
          <a:p>
            <a:r>
              <a:rPr lang="en-US" b="1" dirty="0"/>
              <a:t>Social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15046-EA2E-CF58-61CA-9B61A59A7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Social engineering is a method used by attackers to manipulate people into giving away confidential information or performing actions that compromise security. Instead of breaking into systems using code, attackers exploit human psychology.</a:t>
            </a:r>
          </a:p>
          <a:p>
            <a:pPr marL="0" indent="0">
              <a:buNone/>
            </a:pPr>
            <a:r>
              <a:rPr lang="en-US" dirty="0"/>
              <a:t>Social Engineering focuses on:
-Human interaction
-Communication
-Behavior
👉 It’s engineering people, not machines.</a:t>
            </a:r>
          </a:p>
        </p:txBody>
      </p:sp>
    </p:spTree>
    <p:extLst>
      <p:ext uri="{BB962C8B-B14F-4D97-AF65-F5344CB8AC3E}">
        <p14:creationId xmlns:p14="http://schemas.microsoft.com/office/powerpoint/2010/main" val="3395104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9670-601B-F97D-CC24-2F00350E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Social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80B0-B001-FE8D-1CA5-3F419CE5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Every social engineering attack follows a pattern:</a:t>
            </a:r>
          </a:p>
          <a:p>
            <a:pPr marL="0" indent="0">
              <a:buNone/>
            </a:pPr>
            <a:r>
              <a:rPr lang="en-US" dirty="0"/>
              <a:t>-Research (Reconnaissance):The attacker gathers information about the target(name, job, email, habits, etc.)</a:t>
            </a:r>
          </a:p>
          <a:p>
            <a:pPr marL="0" indent="0">
              <a:buNone/>
            </a:pPr>
            <a:r>
              <a:rPr lang="en-US" dirty="0"/>
              <a:t>-Build Trust (Pretexting):They pretend to be someone believable(bank staff, coworker, tech support)</a:t>
            </a:r>
          </a:p>
          <a:p>
            <a:pPr marL="0" indent="0">
              <a:buNone/>
            </a:pPr>
            <a:r>
              <a:rPr lang="en-US" dirty="0"/>
              <a:t>-Exploit Emotion: They trigger emotions like Fear, Urgency, Trust </a:t>
            </a:r>
            <a:r>
              <a:rPr lang="en-US"/>
              <a:t>and Curiosity.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00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EC86-80E0-8D38-F756-3E0A4ECC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Social Engineering Tactics Used By Attackers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614C-985D-9940-7ABE-03648594D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⏰ Urgency – Forces quick action</a:t>
            </a:r>
          </a:p>
          <a:p>
            <a:pPr marL="0" indent="0">
              <a:buNone/>
            </a:pPr>
            <a:r>
              <a:rPr lang="en-US" dirty="0"/>
              <a:t>😨 Fear – Creates panic</a:t>
            </a:r>
          </a:p>
          <a:p>
            <a:pPr marL="0" indent="0">
              <a:buNone/>
            </a:pPr>
            <a:r>
              <a:rPr lang="en-US" dirty="0"/>
              <a:t>👔 Authority – Fake trusted source</a:t>
            </a:r>
          </a:p>
          <a:p>
            <a:pPr marL="0" indent="0">
              <a:buNone/>
            </a:pPr>
            <a:r>
              <a:rPr lang="en-US" dirty="0"/>
              <a:t>🎁 Incentives – Lures with rewards</a:t>
            </a:r>
          </a:p>
          <a:p>
            <a:pPr marL="0" indent="0">
              <a:buNone/>
            </a:pPr>
            <a:r>
              <a:rPr lang="en-US" dirty="0"/>
              <a:t>🤝 Pretexting – Fake scenario
🔁 Reciprocity – Exchange-based trick
🧑‍💻 Phishing – Fake messages/websites
🧍 Impersonation – Pretends to be someone known</a:t>
            </a:r>
          </a:p>
        </p:txBody>
      </p:sp>
    </p:spTree>
    <p:extLst>
      <p:ext uri="{BB962C8B-B14F-4D97-AF65-F5344CB8AC3E}">
        <p14:creationId xmlns:p14="http://schemas.microsoft.com/office/powerpoint/2010/main" val="2034033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A912-2936-7E4E-2D96-EE7DDBC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SOCIAL ENGINEERING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D520C-2B91-D783-EF64-545F73877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Targets human emotions, not systems
Exploits trust, fear, and curiosity
People often don’t verify before acting</a:t>
            </a:r>
          </a:p>
        </p:txBody>
      </p:sp>
    </p:spTree>
    <p:extLst>
      <p:ext uri="{BB962C8B-B14F-4D97-AF65-F5344CB8AC3E}">
        <p14:creationId xmlns:p14="http://schemas.microsoft.com/office/powerpoint/2010/main" val="2842818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664D-2690-416C-C2A0-B9673127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8546"/>
            <a:ext cx="10515600" cy="1325563"/>
          </a:xfrm>
        </p:spPr>
        <p:txBody>
          <a:bodyPr/>
          <a:lstStyle/>
          <a:p>
            <a:r>
              <a:rPr lang="en-US" b="1" dirty="0"/>
              <a:t>HOW TO DEFEND AGAINST IT(</a:t>
            </a:r>
            <a:r>
              <a:rPr lang="en-US" b="1"/>
              <a:t>Best Practices)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3C53A-F7AD-B0BB-9CD0-F4909995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109"/>
            <a:ext cx="10515600" cy="4351338"/>
          </a:xfrm>
        </p:spPr>
        <p:txBody>
          <a:bodyPr/>
          <a:lstStyle/>
          <a:p>
            <a:r>
              <a:rPr lang="en-US" dirty="0"/>
              <a:t>Always verify identities
Don’t rush decisions
Be cautious with unexpected requests
Think critically before sharing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4223692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7EC8-3C3A-A1CE-4C03-5C163B42C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3B20B-A98F-B663-A4A8-8F34E9F39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Social engineering attacks succeed because they:</a:t>
            </a:r>
          </a:p>
          <a:p>
            <a:r>
              <a:rPr lang="en-US" dirty="0"/>
              <a:t>Manipulate human psychology</a:t>
            </a:r>
          </a:p>
          <a:p>
            <a:r>
              <a:rPr lang="en-US" dirty="0"/>
              <a:t>Create urgency and trust</a:t>
            </a:r>
          </a:p>
          <a:p>
            <a:r>
              <a:rPr lang="en-US" dirty="0"/>
              <a:t>Exploit lack of awareness👉 </a:t>
            </a:r>
          </a:p>
          <a:p>
            <a:pPr marL="0" indent="0">
              <a:buNone/>
            </a:pPr>
            <a:r>
              <a:rPr lang="en-US" dirty="0"/>
              <a:t>The strongest defense is awareness and critical thinking</a:t>
            </a:r>
          </a:p>
        </p:txBody>
      </p:sp>
    </p:spTree>
    <p:extLst>
      <p:ext uri="{BB962C8B-B14F-4D97-AF65-F5344CB8AC3E}">
        <p14:creationId xmlns:p14="http://schemas.microsoft.com/office/powerpoint/2010/main" val="2125903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74AD6-7DDC-96DC-0FF6-3DD65359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95BFD-CCE4-E81F-F404-2D71CF2D2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Phishing Awareness Training </vt:lpstr>
      <vt:lpstr>What is Phishing?</vt:lpstr>
      <vt:lpstr>Types of Phishing</vt:lpstr>
      <vt:lpstr>Identifying Phishing Emails </vt:lpstr>
      <vt:lpstr>Identifying Phishing Emails </vt:lpstr>
      <vt:lpstr>How To Identify Fake websites </vt:lpstr>
      <vt:lpstr>How To Identify Fake websites </vt:lpstr>
      <vt:lpstr>How To Identify Fake websites </vt:lpstr>
      <vt:lpstr>Social Engineering</vt:lpstr>
      <vt:lpstr>Social Engineering </vt:lpstr>
      <vt:lpstr>Social Engineering Tactics Used By Attackers </vt:lpstr>
      <vt:lpstr>WHY SOCIAL ENGINEERING WORKS</vt:lpstr>
      <vt:lpstr>HOW TO DEFEND AGAINST IT(Best Practices)</vt:lpstr>
      <vt:lpstr>KEY TAKEAWAY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 </dc:title>
  <dc:creator>John Buchi</dc:creator>
  <cp:lastModifiedBy>John Buchi</cp:lastModifiedBy>
  <cp:revision>13</cp:revision>
  <dcterms:created xsi:type="dcterms:W3CDTF">2026-05-01T20:44:33Z</dcterms:created>
  <dcterms:modified xsi:type="dcterms:W3CDTF">2026-05-17T19:46:25Z</dcterms:modified>
</cp:coreProperties>
</file>